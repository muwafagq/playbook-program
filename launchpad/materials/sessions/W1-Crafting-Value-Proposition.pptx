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60 min session. Goal: everyone leaves with a value prop they can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working session, not 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Ask: who here has changed their pitch in the last month?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build problem. A demand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Merged from two slides. Point: the weak one is a category description, the strong ones name a segment and a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1: four moving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2: the product only counts if it removes the blocker.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founder, fill it in live, let the room correct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10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24" y="6046653"/>
            <a:ext cx="1786555" cy="58357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17320"/>
            <a:ext cx="3566160" cy="363016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68680" y="19659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C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Sherzod Gafar</a:t>
            </a:r>
            <a:endParaRPr lang="en-US" sz="1500" dirty="0"/>
          </a:p>
        </p:txBody>
      </p:sp>
      <p:sp>
        <p:nvSpPr>
          <p:cNvPr id="7" name="Text 2"/>
          <p:cNvSpPr txBox="1"/>
          <p:nvPr/>
        </p:nvSpPr>
        <p:spPr>
          <a:xfrm>
            <a:off x="868680" y="2395728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Value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</a:t>
            </a:r>
            <a:endParaRPr lang="en-US" sz="4600" dirty="0"/>
          </a:p>
        </p:txBody>
      </p:sp>
      <p:sp>
        <p:nvSpPr>
          <p:cNvPr id="8" name="Shape 3"/>
          <p:cNvSpPr/>
          <p:nvPr/>
        </p:nvSpPr>
        <p:spPr>
          <a:xfrm>
            <a:off x="868680" y="4224528"/>
            <a:ext cx="960120" cy="54864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868680" y="44988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7D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resonates with the job our customer is trying to do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374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plan for today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1600200"/>
            <a:ext cx="1600200" cy="475488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15819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essentials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189280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value proposition is, what makes one strong, and the framework you will use.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697480"/>
            <a:ext cx="1600200" cy="475488"/>
          </a:xfrm>
          <a:prstGeom prst="rect">
            <a:avLst/>
          </a:prstGeom>
          <a:solidFill>
            <a:srgbClr val="810F2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6974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26791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299008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 min: write your own value prop. Then present one by one. Listeners answer: what does the startup do, who is the ICP, and did the value prop land?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4023360"/>
            <a:ext cx="1600200" cy="475488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40233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min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651760" y="40050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 props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2651760" y="431596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bring a few of the strongest back to the whole group.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7240" y="5120640"/>
            <a:ext cx="1600200" cy="475488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120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min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51023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54132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hard cases.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29184"/>
            <a:ext cx="10637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 STATISTIC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41732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startups </a:t>
            </a:r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get even close</a:t>
            </a:r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reaching Product Market Fit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SaaS Resources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65960"/>
            <a:ext cx="3520440" cy="2532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38" y="2325685"/>
            <a:ext cx="10654955" cy="20772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20240" y="269748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reason: </a:t>
            </a:r>
            <a:pPr algn="ctr"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 fail to find buyers</a:t>
            </a:r>
            <a:endParaRPr lang="en-US" sz="33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what they built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38" y="2325685"/>
            <a:ext cx="10654955" cy="20772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20240" y="28803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</a:t>
            </a:r>
            <a:pPr algn="ctr" indent="0" marL="0">
              <a:buNone/>
            </a:pPr>
            <a:r>
              <a:rPr lang="en-US" sz="36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proposition?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374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1554480"/>
            <a:ext cx="4663440" cy="3566160"/>
          </a:xfrm>
          <a:prstGeom prst="rect">
            <a:avLst/>
          </a:prstGeom>
          <a:solidFill>
            <a:srgbClr val="FBEDE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4520"/>
            <a:ext cx="566928" cy="5669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01368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27432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help companies collaborate more effectively."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4343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of a hundred companies. Tells the buyer nothing.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20"/>
            <a:ext cx="566928" cy="5669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7512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B7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STRONG: TWO WAYS TO SAY IT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989320" y="2651760"/>
            <a:ext cx="5440680" cy="12344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217920" y="27889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fast-growing remote startups, Notion replaces scattered docs, wikis, and task managers, so your team can move fast without chaos."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989320" y="4023360"/>
            <a:ext cx="5440680" cy="12344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217920" y="41605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"Notion is one place for everything. Instead of scattered docs, tasks, and knowledge across apps, everything lives in one place, organized your way."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value prop is </a:t>
            </a:r>
            <a:pPr indent="0" marL="0">
              <a:buNone/>
            </a:pPr>
            <a:r>
              <a:rPr lang="en-US" sz="3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810F2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7556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77240" y="2624328"/>
            <a:ext cx="566928" cy="566928"/>
          </a:xfrm>
          <a:prstGeom prst="ellipse">
            <a:avLst/>
          </a:prstGeom>
          <a:solidFill>
            <a:srgbClr val="810F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688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they want?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77240" y="3557016"/>
            <a:ext cx="566928" cy="566928"/>
          </a:xfrm>
          <a:prstGeom prst="ellipse">
            <a:avLst/>
          </a:prstGeom>
          <a:solidFill>
            <a:srgbClr val="810F2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362102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can't they get it today?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77240" y="4489704"/>
            <a:ext cx="566928" cy="566928"/>
          </a:xfrm>
          <a:prstGeom prst="ellipse">
            <a:avLst/>
          </a:prstGeom>
          <a:solidFill>
            <a:srgbClr val="810F2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645920" y="45537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your solution better than the alternatives?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solidFill>
            <a:srgbClr val="FFF8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competitor could say the same sentence, it is not yet a value proposition.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clear formulation of</a:t>
            </a:r>
            <a:endParaRPr lang="en-US" sz="3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1965960" cy="1965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your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4290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45262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stopping them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getting what they want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577840" y="17830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7EA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743200"/>
            <a:ext cx="1554480" cy="1600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3504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service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clear formulation of</a:t>
            </a:r>
            <a:endParaRPr lang="en-US" sz="3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1965960" cy="1965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your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4290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45262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stopping them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getting what they want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577840" y="17830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7EA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43200"/>
            <a:ext cx="1554480" cy="1600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service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522208" y="3246120"/>
            <a:ext cx="640080" cy="384048"/>
          </a:xfrm>
          <a:prstGeom prst="rightArrow">
            <a:avLst/>
          </a:prstGeom>
          <a:solidFill>
            <a:srgbClr val="810F2F"/>
          </a:solidFill>
          <a:ln/>
        </p:spPr>
      </p:sp>
      <p:sp>
        <p:nvSpPr>
          <p:cNvPr id="14" name="Shape 9"/>
          <p:cNvSpPr/>
          <p:nvPr/>
        </p:nvSpPr>
        <p:spPr>
          <a:xfrm>
            <a:off x="9326880" y="178308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FFF8E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2697480"/>
            <a:ext cx="1280160" cy="193852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46404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helps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 get what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want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the same as the marketing message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77240" y="1691640"/>
            <a:ext cx="4983480" cy="3611880"/>
          </a:xfrm>
          <a:prstGeom prst="rect">
            <a:avLst/>
          </a:prstGeom>
          <a:solidFill>
            <a:srgbClr val="FFF8E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61288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61288" y="26060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internal, strategic statement. The foundation for product, positioning, messaging and pricing.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61288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Channel-agnostic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4983480" cy="3611880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84848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MESSAGE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784848" y="26060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communicate that value in a way that grabs attention and drives action.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Channel-specific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exercise: </a:t>
            </a:r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value proposition elements for your company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3291840" cy="315468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148840"/>
            <a:ext cx="914400" cy="914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886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desired outcome?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389120" y="1783080"/>
            <a:ext cx="3291840" cy="315468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148840"/>
            <a:ext cx="914400" cy="914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8912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4754880" y="3886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stopping them? What is frustrating?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001000" y="1783080"/>
            <a:ext cx="3291840" cy="315468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148840"/>
            <a:ext cx="914400" cy="9144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0100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8366760" y="3886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feels like. What is better after?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minutes. Write, do not polish.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374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and Positioning Framework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20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(customer segment)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6148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want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(desired outcome / job to be done)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027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(your product name) is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 classification / category)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4439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(key problem-solving capability)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(main competitors + key differentiation)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374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Careem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83080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urban professionals and families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87752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want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transportation and everyday services without hassle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92424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Careem is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mobile app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97096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users book rides, order food, send packages, and pay for daily services in one place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001768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and other global apps, Careem is tailored to local needs: Arabic-first, local payment options, regional customer support, and integrated lifestyle services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374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Heylama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645920"/>
            <a:ext cx="10607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serious language learners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68296"/>
            <a:ext cx="10607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want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reach language proficiency for career, study, relationship and other non-casual, professional goals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90672"/>
            <a:ext cx="10607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Heylama is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mobile app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13048"/>
            <a:ext cx="10607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users a safe space to practice speaking, learn relevant vocabulary and improve their grammar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535424"/>
            <a:ext cx="10607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apps like Duolingo, Heylama focuses on speaking and practical content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257800"/>
            <a:ext cx="10607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courses, Heylama is 50x more affordable, always available, and personalized to your needs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374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create a value prop for one of the startups live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20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(customer segment)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6148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want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(desired outcome / job to be done)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027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(your product name) is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 classification / category)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4439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(key problem-solving capability)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(main competitors + key differentiation)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 most likely </a:t>
            </a:r>
            <a:pPr indent="0" marL="0">
              <a:buNone/>
            </a:pPr>
            <a:r>
              <a:rPr lang="en-US" sz="28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or several of these gains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E884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time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your goal faster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38912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9260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quality than existing solutions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results than existing solutions, for example more revenue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01000" y="17830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7B5EC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0100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29260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less than the current process or the competitors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 your faster-better-cheaper promises with the </a:t>
            </a:r>
            <a:pPr indent="0" marL="0">
              <a:buNone/>
            </a:pPr>
            <a:r>
              <a:rPr lang="en-US" sz="27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vs. future"</a:t>
            </a:r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framework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4937760" cy="5943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46520" y="1828800"/>
            <a:ext cx="4937760" cy="594360"/>
          </a:xfrm>
          <a:prstGeom prst="rect">
            <a:avLst/>
          </a:prstGeom>
          <a:solidFill>
            <a:srgbClr val="810F2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46520" y="1828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77240" y="2743200"/>
            <a:ext cx="4800600" cy="777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7432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870448" y="3008376"/>
            <a:ext cx="457200" cy="256032"/>
          </a:xfrm>
          <a:prstGeom prst="rightArrow">
            <a:avLst/>
          </a:prstGeom>
          <a:solidFill>
            <a:srgbClr val="C4C4C4"/>
          </a:solidFill>
          <a:ln/>
        </p:spPr>
      </p:sp>
      <p:sp>
        <p:nvSpPr>
          <p:cNvPr id="13" name="Shape 10"/>
          <p:cNvSpPr/>
          <p:nvPr/>
        </p:nvSpPr>
        <p:spPr>
          <a:xfrm>
            <a:off x="6446520" y="2743200"/>
            <a:ext cx="4937760" cy="777240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46520" y="2743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77240" y="3703320"/>
            <a:ext cx="4800600" cy="777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37033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 QUALITY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870448" y="3968496"/>
            <a:ext cx="457200" cy="256032"/>
          </a:xfrm>
          <a:prstGeom prst="rightArrow">
            <a:avLst/>
          </a:prstGeom>
          <a:solidFill>
            <a:srgbClr val="C4C4C4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6520" y="3703320"/>
            <a:ext cx="4937760" cy="777240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4652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77240" y="4663440"/>
            <a:ext cx="4800600" cy="777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46634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EXPENSIVE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870448" y="4928616"/>
            <a:ext cx="457200" cy="256032"/>
          </a:xfrm>
          <a:prstGeom prst="rightArrow">
            <a:avLst/>
          </a:prstGeom>
          <a:solidFill>
            <a:srgbClr val="C4C4C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46520" y="4663440"/>
            <a:ext cx="4937760" cy="777240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46520" y="4663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vs. future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Heylama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493776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solidFill>
            <a:srgbClr val="810F2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7240" y="2606040"/>
            <a:ext cx="480060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33272" y="2606040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takes 8 years on average to reach average fluency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870448" y="2980944"/>
            <a:ext cx="457200" cy="256032"/>
          </a:xfrm>
          <a:prstGeom prst="rightArrow">
            <a:avLst/>
          </a:prstGeom>
          <a:solidFill>
            <a:srgbClr val="C4C4C4"/>
          </a:solidFill>
          <a:ln/>
        </p:spPr>
      </p:sp>
      <p:sp>
        <p:nvSpPr>
          <p:cNvPr id="13" name="Shape 10"/>
          <p:cNvSpPr/>
          <p:nvPr/>
        </p:nvSpPr>
        <p:spPr>
          <a:xfrm>
            <a:off x="6446520" y="2606040"/>
            <a:ext cx="4937760" cy="1005840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02552" y="2606040"/>
            <a:ext cx="4425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0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language proficiency in under 12 months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" y="3776472"/>
            <a:ext cx="480060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33272" y="3776472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learners lack up to 2,000 hours of speaking practice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870448" y="4151376"/>
            <a:ext cx="457200" cy="256032"/>
          </a:xfrm>
          <a:prstGeom prst="rightArrow">
            <a:avLst/>
          </a:prstGeom>
          <a:solidFill>
            <a:srgbClr val="C4C4C4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6520" y="3776472"/>
            <a:ext cx="4937760" cy="1005840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702552" y="3776472"/>
            <a:ext cx="4425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0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an extra 3 hours of speaking every month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77240" y="4946904"/>
            <a:ext cx="480060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" y="4946904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courses and private tutors are getting up to 30% more expensive every year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870448" y="5321808"/>
            <a:ext cx="457200" cy="256032"/>
          </a:xfrm>
          <a:prstGeom prst="rightArrow">
            <a:avLst/>
          </a:prstGeom>
          <a:solidFill>
            <a:srgbClr val="C4C4C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46520" y="4946904"/>
            <a:ext cx="4937760" cy="1005840"/>
          </a:xfrm>
          <a:prstGeom prst="rect">
            <a:avLst/>
          </a:prstGeom>
          <a:solidFill>
            <a:srgbClr val="F7EA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702552" y="4946904"/>
            <a:ext cx="4425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0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50x cheaper than a language course or a private tutor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374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value prop mistakes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1627632"/>
            <a:ext cx="1060704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69848" y="1773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vague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69848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that helps you grow"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86537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customer and the change. What is different for whom?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2706624"/>
            <a:ext cx="1060704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69848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product-focused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69848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use GPT-4 to..."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9443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job. The technology belongs in how, not in the promise.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" y="3785616"/>
            <a:ext cx="1060704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69848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audience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69848" y="43525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for everyone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4023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segment you can describe in a sentence.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77240" y="4864608"/>
            <a:ext cx="1060704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69848" y="5010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emotional hook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69848" y="5431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features and specs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510235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the customer stops worrying about, not only what they get.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66928"/>
            <a:ext cx="106374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three things with you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1737360"/>
            <a:ext cx="82296" cy="1051560"/>
          </a:xfrm>
          <a:prstGeom prst="rect">
            <a:avLst/>
          </a:prstGeom>
          <a:solidFill>
            <a:srgbClr val="810F2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88720" y="17190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strategy, not a slogan.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1945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prop names the customer, the job, and why you beat the alternatives. The marketing message comes after.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3154680"/>
            <a:ext cx="82296" cy="1051560"/>
          </a:xfrm>
          <a:prstGeom prst="rect">
            <a:avLst/>
          </a:prstGeom>
          <a:solidFill>
            <a:srgbClr val="810F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8720" y="31363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beats clever.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6118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competitor can say your sentence word for word, you do not have one yet.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4572000"/>
            <a:ext cx="82296" cy="1051560"/>
          </a:xfrm>
          <a:prstGeom prst="rect">
            <a:avLst/>
          </a:prstGeom>
          <a:solidFill>
            <a:srgbClr val="810F2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45537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the promise.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50292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better or cheaper needs a number the customer can check.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9560"/>
            <a:ext cx="12191970" cy="140635"/>
          </a:xfrm>
          <a:prstGeom prst="rect">
            <a:avLst/>
          </a:prstGeom>
          <a:solidFill>
            <a:srgbClr val="810F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" y="6046013"/>
            <a:ext cx="1786555" cy="5835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148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10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15468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at least one quantified statement (hypothesis) for your business and share it in the chat.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77240" y="4892040"/>
            <a:ext cx="8412480" cy="54864"/>
          </a:xfrm>
          <a:prstGeom prst="rect">
            <a:avLst/>
          </a:prstGeom>
          <a:solidFill>
            <a:srgbClr val="FFEA91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810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8826" y="0"/>
            <a:ext cx="1072317" cy="116860"/>
          </a:xfrm>
          <a:prstGeom prst="rect">
            <a:avLst/>
          </a:prstGeom>
          <a:solidFill>
            <a:srgbClr val="FFEA9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24" y="6046653"/>
            <a:ext cx="1786555" cy="58357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691640"/>
            <a:ext cx="42519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0" y="4526280"/>
            <a:ext cx="12191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Value Proposition</dc:title>
  <dc:subject>PptxGenJS Presentation</dc:subject>
  <dc:creator>Sherzod Gafar</dc:creator>
  <cp:lastModifiedBy>Sherzod Gafar</cp:lastModifiedBy>
  <cp:revision>1</cp:revision>
  <dcterms:created xsi:type="dcterms:W3CDTF">2026-09-08T13:40:03Z</dcterms:created>
  <dcterms:modified xsi:type="dcterms:W3CDTF">2026-09-08T13:40:03Z</dcterms:modified>
</cp:coreProperties>
</file>